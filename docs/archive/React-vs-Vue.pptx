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148840"/>
            <a:ext cx="100584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  <a:defRPr sz="4800" b="1">
                <a:solidFill>
                  <a:srgbClr val="FFFFFF"/>
                </a:solidFill>
                <a:latin typeface="Calibri"/>
              </a:defRPr>
            </a:pPr>
            <a:r>
              <a:t>React vs. Vue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A9B6CC"/>
                </a:solidFill>
                <a:latin typeface="Calibri"/>
              </a:defRPr>
            </a:pPr>
            <a:r>
              <a:t>What porting the same app twice actually taught us</a:t>
            </a:r>
            <a:br/>
            <a:r>
              <a:t>OpenPosture: openpose-vue/  →  openpose-react/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4160520"/>
            <a:ext cx="1463040" cy="50800"/>
          </a:xfrm>
          <a:prstGeom prst="rect">
            <a:avLst/>
          </a:prstGeom>
          <a:solidFill>
            <a:srgbClr val="089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40280" y="4160520"/>
            <a:ext cx="1463040" cy="50800"/>
          </a:xfrm>
          <a:prstGeom prst="rect">
            <a:avLst/>
          </a:prstGeom>
          <a:solidFill>
            <a:srgbClr val="2F9E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7607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7E8CA6"/>
                </a:solidFill>
                <a:latin typeface="Calibri"/>
              </a:defRPr>
            </a:pPr>
            <a:r>
              <a:t>CS5588 Capstone  ·  Same Firebase project, same Flask API, same styles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B768A"/>
                </a:solidFill>
                <a:latin typeface="Calibri"/>
              </a:defRPr>
            </a:pPr>
            <a:r>
              <a:t>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F1E3A"/>
                </a:solidFill>
                <a:latin typeface="Calibri"/>
              </a:defRPr>
            </a:pPr>
            <a:r>
              <a:t>The experiment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27048"/>
            <a:ext cx="1005840" cy="44450"/>
          </a:xfrm>
          <a:prstGeom prst="rect">
            <a:avLst/>
          </a:prstGeom>
          <a:solidFill>
            <a:srgbClr val="089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10637215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400"/>
              </a:spcAft>
              <a:defRPr sz="1900" b="0">
                <a:solidFill>
                  <a:srgbClr val="3F4B5F"/>
                </a:solidFill>
                <a:latin typeface="Calibri"/>
              </a:defRPr>
            </a:pPr>
            <a:r>
              <a:t>openpose-react/ is a line-for-line port of openpose-vue/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400"/>
              </a:spcAft>
              <a:defRPr sz="1900" b="0">
                <a:solidFill>
                  <a:srgbClr val="3F4B5F"/>
                </a:solidFill>
                <a:latin typeface="Calibri"/>
              </a:defRPr>
            </a:pPr>
            <a:r>
              <a:t>Same Firebase project, same Flask API, same CSS, same mocked dashboard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550" b="0">
                <a:solidFill>
                  <a:srgbClr val="6B768A"/>
                </a:solidFill>
                <a:latin typeface="Calibri"/>
              </a:defRPr>
            </a:pPr>
            <a:r>
              <a:t>     So anything that differs between the trees is a framework difference,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550" b="0">
                <a:solidFill>
                  <a:srgbClr val="6B768A"/>
                </a:solidFill>
                <a:latin typeface="Calibri"/>
              </a:defRPr>
            </a:pPr>
            <a:r>
              <a:t>     not a feature difference — you can diff them directly.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400"/>
              </a:spcAft>
              <a:defRPr sz="1900" b="0">
                <a:solidFill>
                  <a:srgbClr val="3F4B5F"/>
                </a:solidFill>
                <a:latin typeface="Calibri"/>
              </a:defRPr>
            </a:pPr>
            <a:r>
              <a:t>Both run at once:  Vue on :5173,  React on :5174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400"/>
              </a:spcAft>
              <a:defRPr sz="1900" b="0">
                <a:solidFill>
                  <a:srgbClr val="3F4B5F"/>
                </a:solidFill>
                <a:latin typeface="Calibri"/>
              </a:defRPr>
            </a:pPr>
            <a:r>
              <a:t>Every claim in this deck is anchored to real code in the two repos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89788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68A"/>
                </a:solidFill>
                <a:latin typeface="Calibri"/>
              </a:defRPr>
            </a:pPr>
            <a:r>
              <a:t>Source: openpose-react/COMPARISON.md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B768A"/>
                </a:solidFill>
                <a:latin typeface="Calibri"/>
              </a:defRPr>
            </a:pPr>
            <a:r>
              <a:t>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F1E3A"/>
                </a:solidFill>
                <a:latin typeface="Calibri"/>
              </a:defRPr>
            </a:pPr>
            <a:r>
              <a:t>The file 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27048"/>
            <a:ext cx="1005840" cy="44450"/>
          </a:xfrm>
          <a:prstGeom prst="rect">
            <a:avLst/>
          </a:prstGeom>
          <a:solidFill>
            <a:srgbClr val="089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920240"/>
          <a:ext cx="10637215" cy="3035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18607"/>
                <a:gridCol w="5318608"/>
              </a:tblGrid>
              <a:tr h="433686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Vue</a:t>
                      </a:r>
                    </a:p>
                  </a:txBody>
                  <a:tcPr anchor="ctr" marL="128016">
                    <a:solidFill>
                      <a:srgbClr val="0F1E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React</a:t>
                      </a:r>
                    </a:p>
                  </a:txBody>
                  <a:tcPr anchor="ctr" marL="128016">
                    <a:solidFill>
                      <a:srgbClr val="0F1E3A"/>
                    </a:solidFill>
                  </a:tcPr>
                </a:tc>
              </a:tr>
              <a:tr h="433686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F4B5F"/>
                          </a:solidFill>
                          <a:latin typeface="Calibri"/>
                        </a:defRPr>
                      </a:pPr>
                      <a:r>
                        <a:t>src/main.ts</a:t>
                      </a:r>
                    </a:p>
                  </a:txBody>
                  <a:tcPr anchor="ctr" marL="12801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F4B5F"/>
                          </a:solidFill>
                          <a:latin typeface="Calibri"/>
                        </a:defRPr>
                      </a:pPr>
                      <a:r>
                        <a:t>src/main.tsx + src/firebase.ts</a:t>
                      </a:r>
                    </a:p>
                  </a:txBody>
                  <a:tcPr anchor="ctr" marL="128016" marT="45720" marB="45720">
                    <a:solidFill>
                      <a:srgbClr val="FFFFFF"/>
                    </a:solidFill>
                  </a:tcPr>
                </a:tc>
              </a:tr>
              <a:tr h="433686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F4B5F"/>
                          </a:solidFill>
                          <a:latin typeface="Calibri"/>
                        </a:defRPr>
                      </a:pPr>
                      <a:r>
                        <a:t>src/App.vue</a:t>
                      </a:r>
                    </a:p>
                  </a:txBody>
                  <a:tcPr anchor="ctr" marL="128016" marT="45720" marB="4572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F4B5F"/>
                          </a:solidFill>
                          <a:latin typeface="Calibri"/>
                        </a:defRPr>
                      </a:pPr>
                      <a:r>
                        <a:t>src/App.tsx + App.module.css</a:t>
                      </a:r>
                    </a:p>
                  </a:txBody>
                  <a:tcPr anchor="ctr" marL="128016" marT="45720" marB="45720">
                    <a:solidFill>
                      <a:srgbClr val="F4F6F9"/>
                    </a:solidFill>
                  </a:tcPr>
                </a:tc>
              </a:tr>
              <a:tr h="433686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F4B5F"/>
                          </a:solidFill>
                          <a:latin typeface="Calibri"/>
                        </a:defRPr>
                      </a:pPr>
                      <a:r>
                        <a:t>src/router/index.ts</a:t>
                      </a:r>
                    </a:p>
                  </a:txBody>
                  <a:tcPr anchor="ctr" marL="12801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F4B5F"/>
                          </a:solidFill>
                          <a:latin typeface="Calibri"/>
                        </a:defRPr>
                      </a:pPr>
                      <a:r>
                        <a:t>routes inline in App.tsx; guard in ProtectedRoute.tsx</a:t>
                      </a:r>
                    </a:p>
                  </a:txBody>
                  <a:tcPr anchor="ctr" marL="128016" marT="45720" marB="45720">
                    <a:solidFill>
                      <a:srgbClr val="FFFFFF"/>
                    </a:solidFill>
                  </a:tcPr>
                </a:tc>
              </a:tr>
              <a:tr h="433686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F4B5F"/>
                          </a:solidFill>
                          <a:latin typeface="Calibri"/>
                        </a:defRPr>
                      </a:pPr>
                      <a:r>
                        <a:t>src/components/*.vue</a:t>
                      </a:r>
                    </a:p>
                  </a:txBody>
                  <a:tcPr anchor="ctr" marL="128016" marT="45720" marB="4572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F4B5F"/>
                          </a:solidFill>
                          <a:latin typeface="Calibri"/>
                        </a:defRPr>
                      </a:pPr>
                      <a:r>
                        <a:t>src/components/*.tsx</a:t>
                      </a:r>
                    </a:p>
                  </a:txBody>
                  <a:tcPr anchor="ctr" marL="128016" marT="45720" marB="45720">
                    <a:solidFill>
                      <a:srgbClr val="F4F6F9"/>
                    </a:solidFill>
                  </a:tcPr>
                </a:tc>
              </a:tr>
              <a:tr h="433686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F4B5F"/>
                          </a:solidFill>
                          <a:latin typeface="Calibri"/>
                        </a:defRPr>
                      </a:pPr>
                      <a:r>
                        <a:t>src/components/icons/*.vue</a:t>
                      </a:r>
                    </a:p>
                  </a:txBody>
                  <a:tcPr anchor="ctr" marL="12801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F4B5F"/>
                          </a:solidFill>
                          <a:latin typeface="Calibri"/>
                        </a:defRPr>
                      </a:pPr>
                      <a:r>
                        <a:t>src/components/icons/*.tsx</a:t>
                      </a:r>
                    </a:p>
                  </a:txBody>
                  <a:tcPr anchor="ctr" marL="128016" marT="45720" marB="45720">
                    <a:solidFill>
                      <a:srgbClr val="FFFFFF"/>
                    </a:solidFill>
                  </a:tcPr>
                </a:tc>
              </a:tr>
              <a:tr h="433692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F4B5F"/>
                          </a:solidFill>
                          <a:latin typeface="Calibri"/>
                        </a:defRPr>
                      </a:pPr>
                      <a:r>
                        <a:t>src/views/*.vue</a:t>
                      </a:r>
                    </a:p>
                  </a:txBody>
                  <a:tcPr anchor="ctr" marL="128016" marT="45720" marB="4572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F4B5F"/>
                          </a:solidFill>
                          <a:latin typeface="Calibri"/>
                        </a:defRPr>
                      </a:pPr>
                      <a:r>
                        <a:t>src/views/*.tsx</a:t>
                      </a:r>
                    </a:p>
                  </a:txBody>
                  <a:tcPr anchor="ctr" marL="128016" marT="45720" marB="45720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594360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68A"/>
                </a:solidFill>
                <a:latin typeface="Calibri"/>
              </a:defRPr>
            </a:pPr>
            <a:r>
              <a:t>One Vue file often becomes two in React: the single-file component splits into logic and styles.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B768A"/>
                </a:solidFill>
                <a:latin typeface="Calibri"/>
              </a:defRPr>
            </a:pPr>
            <a:r>
              <a:t>THE CORE DIFFERENCE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F1E3A"/>
                </a:solidFill>
                <a:latin typeface="Calibri"/>
              </a:defRPr>
            </a:pPr>
            <a:r>
              <a:t>1. Reactivity: opt-in vs. re-run everything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27048"/>
            <a:ext cx="1005840" cy="44450"/>
          </a:xfrm>
          <a:prstGeom prst="rect">
            <a:avLst/>
          </a:prstGeom>
          <a:solidFill>
            <a:srgbClr val="089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513572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F9E69"/>
                </a:solidFill>
                <a:latin typeface="Calibri"/>
              </a:defRPr>
            </a:pPr>
            <a:r>
              <a:t>VUE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304288"/>
            <a:ext cx="5135727" cy="2743200"/>
          </a:xfrm>
          <a:prstGeom prst="rect">
            <a:avLst/>
          </a:prstGeom>
          <a:solidFill>
            <a:srgbClr val="F4F6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514600"/>
            <a:ext cx="4678527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0F1E3A"/>
                </a:solidFill>
                <a:latin typeface="Menlo"/>
              </a:defRPr>
            </a:pPr>
            <a:r>
              <a:t>const n = ref(0)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0F1E3A"/>
                </a:solidFill>
                <a:latin typeface="Menlo"/>
              </a:defRPr>
            </a:pPr>
            <a:r>
              <a:t>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0F1E3A"/>
                </a:solidFill>
                <a:latin typeface="Menlo"/>
              </a:defRPr>
            </a:pPr>
            <a:r>
              <a:t>n.value++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0F1E3A"/>
                </a:solidFill>
                <a:latin typeface="Menlo"/>
              </a:defRPr>
            </a:pPr>
            <a:r>
              <a:t>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0F1E3A"/>
                </a:solidFill>
                <a:latin typeface="Menlo"/>
              </a:defRPr>
            </a:pPr>
            <a:r>
              <a:t>// component function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0F1E3A"/>
                </a:solidFill>
                <a:latin typeface="Menlo"/>
              </a:defRPr>
            </a:pPr>
            <a:r>
              <a:t>// runs ONCE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78727" y="1920240"/>
            <a:ext cx="513572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89FC4"/>
                </a:solidFill>
                <a:latin typeface="Calibri"/>
              </a:defRPr>
            </a:pPr>
            <a:r>
              <a:t>REACT</a:t>
            </a:r>
          </a:p>
        </p:txBody>
      </p:sp>
      <p:sp>
        <p:nvSpPr>
          <p:cNvPr id="9" name="Rectangle 8"/>
          <p:cNvSpPr/>
          <p:nvPr/>
        </p:nvSpPr>
        <p:spPr>
          <a:xfrm>
            <a:off x="6278727" y="2304288"/>
            <a:ext cx="5135727" cy="2743200"/>
          </a:xfrm>
          <a:prstGeom prst="rect">
            <a:avLst/>
          </a:prstGeom>
          <a:solidFill>
            <a:srgbClr val="F4F6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07327" y="2514600"/>
            <a:ext cx="4678527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0F1E3A"/>
                </a:solidFill>
                <a:latin typeface="Menlo"/>
              </a:defRPr>
            </a:pPr>
            <a:r>
              <a:t>const [n, setN] = useState(0)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0F1E3A"/>
                </a:solidFill>
                <a:latin typeface="Menlo"/>
              </a:defRPr>
            </a:pPr>
            <a:r>
              <a:t>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0F1E3A"/>
                </a:solidFill>
                <a:latin typeface="Menlo"/>
              </a:defRPr>
            </a:pPr>
            <a:r>
              <a:t>setN(n + 1)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0F1E3A"/>
                </a:solidFill>
                <a:latin typeface="Menlo"/>
              </a:defRPr>
            </a:pPr>
            <a:r>
              <a:t>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0F1E3A"/>
                </a:solidFill>
                <a:latin typeface="Menlo"/>
              </a:defRPr>
            </a:pPr>
            <a:r>
              <a:t>// component function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0F1E3A"/>
                </a:solidFill>
                <a:latin typeface="Menlo"/>
              </a:defRPr>
            </a:pPr>
            <a:r>
              <a:t>// re-runs EVERY change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367528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F4B5F"/>
                </a:solidFill>
                <a:latin typeface="Calibri"/>
              </a:defRPr>
            </a:pPr>
            <a:r>
              <a:t>Vue wraps the value in a proxy and knows exactly which DOM nodes depend on it. React re-runs the whole component and diffs the result. This one fact explains most of the others.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B768A"/>
                </a:solidFill>
                <a:latin typeface="Calibri"/>
              </a:defRPr>
            </a:pPr>
            <a:r>
              <a:t>DERIVED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F1E3A"/>
                </a:solidFill>
                <a:latin typeface="Calibri"/>
              </a:defRPr>
            </a:pPr>
            <a:r>
              <a:t>2. computed vs. plain expressions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27048"/>
            <a:ext cx="1005840" cy="44450"/>
          </a:xfrm>
          <a:prstGeom prst="rect">
            <a:avLst/>
          </a:prstGeom>
          <a:solidFill>
            <a:srgbClr val="089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513572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F9E69"/>
                </a:solidFill>
                <a:latin typeface="Calibri"/>
              </a:defRPr>
            </a:pPr>
            <a:r>
              <a:t>VUE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304288"/>
            <a:ext cx="5135727" cy="2743200"/>
          </a:xfrm>
          <a:prstGeom prst="rect">
            <a:avLst/>
          </a:prstGeom>
          <a:solidFill>
            <a:srgbClr val="F4F6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514600"/>
            <a:ext cx="4678527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0F1E3A"/>
                </a:solidFill>
                <a:latin typeface="Menlo"/>
              </a:defRPr>
            </a:pPr>
            <a:r>
              <a:t>const label = computed(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0F1E3A"/>
                </a:solidFill>
                <a:latin typeface="Menlo"/>
              </a:defRPr>
            </a:pPr>
            <a:r>
              <a:t>  () =&gt; `Hi, ${name.value}`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0F1E3A"/>
                </a:solidFill>
                <a:latin typeface="Menlo"/>
              </a:defRPr>
            </a:pPr>
            <a:r>
              <a:t>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0F1E3A"/>
                </a:solidFill>
                <a:latin typeface="Menlo"/>
              </a:defRPr>
            </a:pPr>
            <a:r>
              <a:t>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0F1E3A"/>
                </a:solidFill>
                <a:latin typeface="Menlo"/>
              </a:defRPr>
            </a:pPr>
            <a:r>
              <a:t>// cached until a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0F1E3A"/>
                </a:solidFill>
                <a:latin typeface="Menlo"/>
              </a:defRPr>
            </a:pPr>
            <a:r>
              <a:t>// dependency changes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78727" y="1920240"/>
            <a:ext cx="513572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89FC4"/>
                </a:solidFill>
                <a:latin typeface="Calibri"/>
              </a:defRPr>
            </a:pPr>
            <a:r>
              <a:t>REACT</a:t>
            </a:r>
          </a:p>
        </p:txBody>
      </p:sp>
      <p:sp>
        <p:nvSpPr>
          <p:cNvPr id="9" name="Rectangle 8"/>
          <p:cNvSpPr/>
          <p:nvPr/>
        </p:nvSpPr>
        <p:spPr>
          <a:xfrm>
            <a:off x="6278727" y="2304288"/>
            <a:ext cx="5135727" cy="2743200"/>
          </a:xfrm>
          <a:prstGeom prst="rect">
            <a:avLst/>
          </a:prstGeom>
          <a:solidFill>
            <a:srgbClr val="F4F6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07327" y="2514600"/>
            <a:ext cx="4678527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0F1E3A"/>
                </a:solidFill>
                <a:latin typeface="Menlo"/>
              </a:defRPr>
            </a:pPr>
            <a:r>
              <a:t>const label = `Hi, ${name}`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0F1E3A"/>
                </a:solidFill>
                <a:latin typeface="Menlo"/>
              </a:defRPr>
            </a:pPr>
            <a:r>
              <a:t>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0F1E3A"/>
                </a:solidFill>
                <a:latin typeface="Menlo"/>
              </a:defRPr>
            </a:pPr>
            <a:r>
              <a:t>// just compute it —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0F1E3A"/>
                </a:solidFill>
                <a:latin typeface="Menlo"/>
              </a:defRPr>
            </a:pPr>
            <a:r>
              <a:t>// the body reruns anyway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0F1E3A"/>
                </a:solidFill>
                <a:latin typeface="Menlo"/>
              </a:defRPr>
            </a:pPr>
            <a:r>
              <a:t>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0F1E3A"/>
                </a:solidFill>
                <a:latin typeface="Menlo"/>
              </a:defRPr>
            </a:pPr>
            <a:r>
              <a:t>// useMemo = perf tool,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0F1E3A"/>
                </a:solidFill>
                <a:latin typeface="Menlo"/>
              </a:defRPr>
            </a:pPr>
            <a:r>
              <a:t>// not correctness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367528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F4B5F"/>
                </a:solidFill>
                <a:latin typeface="Calibri"/>
              </a:defRPr>
            </a:pPr>
            <a:r>
              <a:t>In our Dashboard the Vue computed()s had no reactive dependencies at all, so the port hoisted them to module-level constants. Recomputing a constant every render is pure waste.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B768A"/>
                </a:solidFill>
                <a:latin typeface="Calibri"/>
              </a:defRPr>
            </a:pPr>
            <a:r>
              <a:t>FORMS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F1E3A"/>
                </a:solidFill>
                <a:latin typeface="Calibri"/>
              </a:defRPr>
            </a:pPr>
            <a:r>
              <a:t>3. v-model doesn't exist — controlled inputs instead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27048"/>
            <a:ext cx="1005840" cy="44450"/>
          </a:xfrm>
          <a:prstGeom prst="rect">
            <a:avLst/>
          </a:prstGeom>
          <a:solidFill>
            <a:srgbClr val="089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513572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F9E69"/>
                </a:solidFill>
                <a:latin typeface="Calibri"/>
              </a:defRPr>
            </a:pPr>
            <a:r>
              <a:t>VUE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304288"/>
            <a:ext cx="5135727" cy="2743200"/>
          </a:xfrm>
          <a:prstGeom prst="rect">
            <a:avLst/>
          </a:prstGeom>
          <a:solidFill>
            <a:srgbClr val="F4F6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514600"/>
            <a:ext cx="4678527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0F1E3A"/>
                </a:solidFill>
                <a:latin typeface="Menlo"/>
              </a:defRPr>
            </a:pPr>
            <a:r>
              <a:t>&lt;input v-model="email" /&gt;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0F1E3A"/>
                </a:solidFill>
                <a:latin typeface="Menlo"/>
              </a:defRPr>
            </a:pPr>
            <a:r>
              <a:t>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0F1E3A"/>
                </a:solidFill>
                <a:latin typeface="Menlo"/>
              </a:defRPr>
            </a:pPr>
            <a:r>
              <a:t>&lt;!-- two-way binding,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0F1E3A"/>
                </a:solidFill>
                <a:latin typeface="Menlo"/>
              </a:defRPr>
            </a:pPr>
            <a:r>
              <a:t>     free --&gt;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78727" y="1920240"/>
            <a:ext cx="513572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89FC4"/>
                </a:solidFill>
                <a:latin typeface="Calibri"/>
              </a:defRPr>
            </a:pPr>
            <a:r>
              <a:t>REACT</a:t>
            </a:r>
          </a:p>
        </p:txBody>
      </p:sp>
      <p:sp>
        <p:nvSpPr>
          <p:cNvPr id="9" name="Rectangle 8"/>
          <p:cNvSpPr/>
          <p:nvPr/>
        </p:nvSpPr>
        <p:spPr>
          <a:xfrm>
            <a:off x="6278727" y="2304288"/>
            <a:ext cx="5135727" cy="2743200"/>
          </a:xfrm>
          <a:prstGeom prst="rect">
            <a:avLst/>
          </a:prstGeom>
          <a:solidFill>
            <a:srgbClr val="F4F6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07327" y="2514600"/>
            <a:ext cx="4678527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0F1E3A"/>
                </a:solidFill>
                <a:latin typeface="Menlo"/>
              </a:defRPr>
            </a:pPr>
            <a:r>
              <a:t>&lt;input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0F1E3A"/>
                </a:solidFill>
                <a:latin typeface="Menlo"/>
              </a:defRPr>
            </a:pPr>
            <a:r>
              <a:t>  value={email}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0F1E3A"/>
                </a:solidFill>
                <a:latin typeface="Menlo"/>
              </a:defRPr>
            </a:pPr>
            <a:r>
              <a:t>  onChange={(e) =&gt;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0F1E3A"/>
                </a:solidFill>
                <a:latin typeface="Menlo"/>
              </a:defRPr>
            </a:pPr>
            <a:r>
              <a:t>    setEmail(e.target.value)}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0F1E3A"/>
                </a:solidFill>
                <a:latin typeface="Menlo"/>
              </a:defRPr>
            </a:pPr>
            <a:r>
              <a:t>/&gt;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367528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F4B5F"/>
                </a:solidFill>
                <a:latin typeface="Calibri"/>
              </a:defRPr>
            </a:pPr>
            <a:r>
              <a:t>More verbose, but there is exactly one place state can change. This is the biggest day-to-day change when you switch.  See views/auth/Login.tsx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B768A"/>
                </a:solidFill>
                <a:latin typeface="Calibri"/>
              </a:defRPr>
            </a:pPr>
            <a:r>
              <a:t>TEMPLATES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F1E3A"/>
                </a:solidFill>
                <a:latin typeface="Calibri"/>
              </a:defRPr>
            </a:pPr>
            <a:r>
              <a:t>4. Directives vs. plain JavaScript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27048"/>
            <a:ext cx="1005840" cy="44450"/>
          </a:xfrm>
          <a:prstGeom prst="rect">
            <a:avLst/>
          </a:prstGeom>
          <a:solidFill>
            <a:srgbClr val="089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920240"/>
          <a:ext cx="10637215" cy="2615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18607"/>
                <a:gridCol w="5318608"/>
              </a:tblGrid>
              <a:tr h="435864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Vue template</a:t>
                      </a:r>
                    </a:p>
                  </a:txBody>
                  <a:tcPr anchor="ctr" marL="128016">
                    <a:solidFill>
                      <a:srgbClr val="0F1E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React JSX</a:t>
                      </a:r>
                    </a:p>
                  </a:txBody>
                  <a:tcPr anchor="ctr" marL="128016">
                    <a:solidFill>
                      <a:srgbClr val="0F1E3A"/>
                    </a:solidFill>
                  </a:tcPr>
                </a:tc>
              </a:tr>
              <a:tr h="43586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F4B5F"/>
                          </a:solidFill>
                          <a:latin typeface="Calibri"/>
                        </a:defRPr>
                      </a:pPr>
                      <a:r>
                        <a:t>v-if="cond"</a:t>
                      </a:r>
                    </a:p>
                  </a:txBody>
                  <a:tcPr anchor="ctr" marL="12801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F4B5F"/>
                          </a:solidFill>
                          <a:latin typeface="Menlo"/>
                        </a:defRPr>
                      </a:pPr>
                      <a:r>
                        <a:t>{cond &amp;&amp; &lt;div/&gt;}</a:t>
                      </a:r>
                    </a:p>
                  </a:txBody>
                  <a:tcPr anchor="ctr" marL="128016" marT="45720" marB="45720">
                    <a:solidFill>
                      <a:srgbClr val="FFFFFF"/>
                    </a:solidFill>
                  </a:tcPr>
                </a:tc>
              </a:tr>
              <a:tr h="43586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F4B5F"/>
                          </a:solidFill>
                          <a:latin typeface="Calibri"/>
                        </a:defRPr>
                      </a:pPr>
                      <a:r>
                        <a:t>v-else</a:t>
                      </a:r>
                    </a:p>
                  </a:txBody>
                  <a:tcPr anchor="ctr" marL="128016" marT="45720" marB="4572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F4B5F"/>
                          </a:solidFill>
                          <a:latin typeface="Menlo"/>
                        </a:defRPr>
                      </a:pPr>
                      <a:r>
                        <a:t>{cond ? &lt;a/&gt; : &lt;b/&gt;}</a:t>
                      </a:r>
                    </a:p>
                  </a:txBody>
                  <a:tcPr anchor="ctr" marL="128016" marT="45720" marB="45720">
                    <a:solidFill>
                      <a:srgbClr val="F4F6F9"/>
                    </a:solidFill>
                  </a:tcPr>
                </a:tc>
              </a:tr>
              <a:tr h="43586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F4B5F"/>
                          </a:solidFill>
                          <a:latin typeface="Calibri"/>
                        </a:defRPr>
                      </a:pPr>
                      <a:r>
                        <a:t>v-for="x in xs"</a:t>
                      </a:r>
                    </a:p>
                  </a:txBody>
                  <a:tcPr anchor="ctr" marL="12801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F4B5F"/>
                          </a:solidFill>
                          <a:latin typeface="Menlo"/>
                        </a:defRPr>
                      </a:pPr>
                      <a:r>
                        <a:t>{xs.map(x =&gt; &lt;li key={x}&gt;…&lt;/li&gt;)}</a:t>
                      </a:r>
                    </a:p>
                  </a:txBody>
                  <a:tcPr anchor="ctr" marL="128016" marT="45720" marB="45720">
                    <a:solidFill>
                      <a:srgbClr val="FFFFFF"/>
                    </a:solidFill>
                  </a:tcPr>
                </a:tc>
              </a:tr>
              <a:tr h="43586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F4B5F"/>
                          </a:solidFill>
                          <a:latin typeface="Calibri"/>
                        </a:defRPr>
                      </a:pPr>
                      <a:r>
                        <a:t>@click="fn"</a:t>
                      </a:r>
                    </a:p>
                  </a:txBody>
                  <a:tcPr anchor="ctr" marL="128016" marT="45720" marB="4572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F4B5F"/>
                          </a:solidFill>
                          <a:latin typeface="Menlo"/>
                        </a:defRPr>
                      </a:pPr>
                      <a:r>
                        <a:t>onClick={fn}</a:t>
                      </a:r>
                    </a:p>
                  </a:txBody>
                  <a:tcPr anchor="ctr" marL="128016" marT="45720" marB="45720">
                    <a:solidFill>
                      <a:srgbClr val="F4F6F9"/>
                    </a:solidFill>
                  </a:tcPr>
                </a:tc>
              </a:tr>
              <a:tr h="43586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F4B5F"/>
                          </a:solidFill>
                          <a:latin typeface="Calibri"/>
                        </a:defRPr>
                      </a:pPr>
                      <a:r>
                        <a:t>:src="url"</a:t>
                      </a:r>
                    </a:p>
                  </a:txBody>
                  <a:tcPr anchor="ctr" marL="12801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F4B5F"/>
                          </a:solidFill>
                          <a:latin typeface="Calibri"/>
                        </a:defRPr>
                      </a:pPr>
                      <a:r>
                        <a:t>src={url}</a:t>
                      </a:r>
                    </a:p>
                  </a:txBody>
                  <a:tcPr anchor="ctr" marL="128016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594360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68A"/>
                </a:solidFill>
                <a:latin typeface="Calibri"/>
              </a:defRPr>
            </a:pPr>
            <a:r>
              <a:t>There is no template language in React. JSX is JavaScript — you use map, &amp;&amp;, and ternaries. key means the same thing in both.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B768A"/>
                </a:solidFill>
                <a:latin typeface="Calibri"/>
              </a:defRPr>
            </a:pPr>
            <a:r>
              <a:t>SIDE EFFECTS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F1E3A"/>
                </a:solidFill>
                <a:latin typeface="Calibri"/>
              </a:defRPr>
            </a:pPr>
            <a:r>
              <a:t>5. Lifecycle → useEffect (and the bug it caught)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27048"/>
            <a:ext cx="1005840" cy="44450"/>
          </a:xfrm>
          <a:prstGeom prst="rect">
            <a:avLst/>
          </a:prstGeom>
          <a:solidFill>
            <a:srgbClr val="089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10637215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400"/>
              </a:spcAft>
              <a:defRPr sz="1900" b="0">
                <a:solidFill>
                  <a:srgbClr val="3F4B5F"/>
                </a:solidFill>
                <a:latin typeface="Calibri"/>
              </a:defRPr>
            </a:pPr>
            <a:r>
              <a:t>onMounted(fn)  becomes  useEffect(fn, [])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400"/>
              </a:spcAft>
              <a:defRPr sz="1900" b="0">
                <a:solidFill>
                  <a:srgbClr val="3F4B5F"/>
                </a:solidFill>
                <a:latin typeface="Calibri"/>
              </a:defRPr>
            </a:pPr>
            <a:r>
              <a:t>Cleanup is first-class: what you return from useEffect runs on unmount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550" b="0">
                <a:solidFill>
                  <a:srgbClr val="6B768A"/>
                </a:solidFill>
                <a:latin typeface="Calibri"/>
              </a:defRPr>
            </a:pPr>
            <a:r>
              <a:t>     App.tsx unsubscribes from onAuthStateChanged — the Vue version never does,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550" b="0">
                <a:solidFill>
                  <a:srgbClr val="6B768A"/>
                </a:solidFill>
                <a:latin typeface="Calibri"/>
              </a:defRPr>
            </a:pPr>
            <a:r>
              <a:t>     which leaks a listener. React's cleanup contract made the omission obvious.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400"/>
              </a:spcAft>
              <a:defRPr sz="1900" b="0">
                <a:solidFill>
                  <a:srgbClr val="3F4B5F"/>
                </a:solidFill>
                <a:latin typeface="Calibri"/>
              </a:defRPr>
            </a:pPr>
            <a:r>
              <a:t>onBeforeMount has no equivalent — effects always run after paint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550" b="0">
                <a:solidFill>
                  <a:srgbClr val="6B768A"/>
                </a:solidFill>
                <a:latin typeface="Calibri"/>
              </a:defRPr>
            </a:pPr>
            <a:r>
              <a:t>     So HelloWorld's API call can't populate before first render; hence the empty initial state.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400"/>
              </a:spcAft>
              <a:defRPr sz="1900" b="0">
                <a:solidFill>
                  <a:srgbClr val="3F4B5F"/>
                </a:solidFill>
                <a:latin typeface="Calibri"/>
              </a:defRPr>
            </a:pPr>
            <a:r>
              <a:t>&lt;StrictMode&gt; double-invokes effects in dev on purpose, to surface missing cleanup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89788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68A"/>
                </a:solidFill>
                <a:latin typeface="Calibri"/>
              </a:defRPr>
            </a:pPr>
            <a:r>
              <a:t>This is the clearest case where the framework's design pushed us toward the more correct code.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B768A"/>
                </a:solidFill>
                <a:latin typeface="Calibri"/>
              </a:defRPr>
            </a:pPr>
            <a:r>
              <a:t>STYLING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F1E3A"/>
                </a:solidFill>
                <a:latin typeface="Calibri"/>
              </a:defRPr>
            </a:pPr>
            <a:r>
              <a:t>6. Scoped styles → CSS Modules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27048"/>
            <a:ext cx="1005840" cy="44450"/>
          </a:xfrm>
          <a:prstGeom prst="rect">
            <a:avLst/>
          </a:prstGeom>
          <a:solidFill>
            <a:srgbClr val="089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513572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F9E69"/>
                </a:solidFill>
                <a:latin typeface="Calibri"/>
              </a:defRPr>
            </a:pPr>
            <a:r>
              <a:t>VUE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304288"/>
            <a:ext cx="5135727" cy="2743200"/>
          </a:xfrm>
          <a:prstGeom prst="rect">
            <a:avLst/>
          </a:prstGeom>
          <a:solidFill>
            <a:srgbClr val="F4F6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514600"/>
            <a:ext cx="4678527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0F1E3A"/>
                </a:solidFill>
                <a:latin typeface="Menlo"/>
              </a:defRPr>
            </a:pPr>
            <a:r>
              <a:t>&lt;style scoped&gt;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0F1E3A"/>
                </a:solidFill>
                <a:latin typeface="Menlo"/>
              </a:defRPr>
            </a:pPr>
            <a:r>
              <a:t>.btn-signout { … }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0F1E3A"/>
                </a:solidFill>
                <a:latin typeface="Menlo"/>
              </a:defRPr>
            </a:pPr>
            <a:r>
              <a:t>nav a { … }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0F1E3A"/>
                </a:solidFill>
                <a:latin typeface="Menlo"/>
              </a:defRPr>
            </a:pPr>
            <a:r>
              <a:t>&lt;/style&gt;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78727" y="1920240"/>
            <a:ext cx="513572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89FC4"/>
                </a:solidFill>
                <a:latin typeface="Calibri"/>
              </a:defRPr>
            </a:pPr>
            <a:r>
              <a:t>REACT</a:t>
            </a:r>
          </a:p>
        </p:txBody>
      </p:sp>
      <p:sp>
        <p:nvSpPr>
          <p:cNvPr id="9" name="Rectangle 8"/>
          <p:cNvSpPr/>
          <p:nvPr/>
        </p:nvSpPr>
        <p:spPr>
          <a:xfrm>
            <a:off x="6278727" y="2304288"/>
            <a:ext cx="5135727" cy="2743200"/>
          </a:xfrm>
          <a:prstGeom prst="rect">
            <a:avLst/>
          </a:prstGeom>
          <a:solidFill>
            <a:srgbClr val="F4F6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07327" y="2514600"/>
            <a:ext cx="4678527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0F1E3A"/>
                </a:solidFill>
                <a:latin typeface="Menlo"/>
              </a:defRPr>
            </a:pPr>
            <a:r>
              <a:t>import styles from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0F1E3A"/>
                </a:solidFill>
                <a:latin typeface="Menlo"/>
              </a:defRPr>
            </a:pPr>
            <a:r>
              <a:t>  './Auth.module.css'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0F1E3A"/>
                </a:solidFill>
                <a:latin typeface="Menlo"/>
              </a:defRPr>
            </a:pPr>
            <a:r>
              <a:t>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0F1E3A"/>
                </a:solidFill>
                <a:latin typeface="Menlo"/>
              </a:defRPr>
            </a:pPr>
            <a:r>
              <a:t>styles.btnSignout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0F1E3A"/>
                </a:solidFill>
                <a:latin typeface="Menlo"/>
              </a:defRPr>
            </a:pPr>
            <a:r>
              <a:t>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0F1E3A"/>
                </a:solidFill>
                <a:latin typeface="Menlo"/>
              </a:defRPr>
            </a:pPr>
            <a:r>
              <a:t>// .nav a { … 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367528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F4B5F"/>
                </a:solidFill>
                <a:latin typeface="Calibri"/>
              </a:defRPr>
            </a:pPr>
            <a:r>
              <a:t>Class names get hashed, so they can't leak. Hyphenated names get awkward (styles['btn-signout']) so the port uses camelCase, and bare selectors like nav a need a class to hang off of.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B768A"/>
                </a:solidFill>
                <a:latin typeface="Calibri"/>
              </a:defRPr>
            </a:pPr>
            <a:r>
              <a:t>NAVIGATION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F1E3A"/>
                </a:solidFill>
                <a:latin typeface="Calibri"/>
              </a:defRPr>
            </a:pPr>
            <a:r>
              <a:t>7. Routing: configuration vs. composition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27048"/>
            <a:ext cx="1005840" cy="44450"/>
          </a:xfrm>
          <a:prstGeom prst="rect">
            <a:avLst/>
          </a:prstGeom>
          <a:solidFill>
            <a:srgbClr val="089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10637215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400"/>
              </a:spcAft>
              <a:defRPr sz="1900" b="0">
                <a:solidFill>
                  <a:srgbClr val="3F4B5F"/>
                </a:solidFill>
                <a:latin typeface="Calibri"/>
              </a:defRPr>
            </a:pPr>
            <a:r>
              <a:t>Vue Router is a plugin holding a route table, with a global beforeEach guard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400"/>
              </a:spcAft>
              <a:defRPr sz="1900" b="0">
                <a:solidFill>
                  <a:srgbClr val="3F4B5F"/>
                </a:solidFill>
                <a:latin typeface="Calibri"/>
              </a:defRPr>
            </a:pPr>
            <a:r>
              <a:t>React Router is components — routes are JSX inside App.tsx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400"/>
              </a:spcAft>
              <a:defRPr sz="1900" b="0">
                <a:solidFill>
                  <a:srgbClr val="3F4B5F"/>
                </a:solidFill>
                <a:latin typeface="Calibri"/>
              </a:defRPr>
            </a:pPr>
            <a:r>
              <a:t>There is no global guard. You wrap the protected element: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550" b="0">
                <a:solidFill>
                  <a:srgbClr val="6B768A"/>
                </a:solidFill>
                <a:latin typeface="Calibri"/>
              </a:defRPr>
            </a:pPr>
            <a:r>
              <a:t>     &lt;Route path="/dashboard" element={&lt;ProtectedRoute&gt;&lt;Dashboard/&gt;&lt;/ProtectedRoute&gt;} /&gt;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400"/>
              </a:spcAft>
              <a:defRPr sz="1900" b="0">
                <a:solidFill>
                  <a:srgbClr val="3F4B5F"/>
                </a:solidFill>
                <a:latin typeface="Calibri"/>
              </a:defRPr>
            </a:pPr>
            <a:r>
              <a:t>Vue's guard runs BEFORE navigation commits; React's runs DURING render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550" b="0">
                <a:solidFill>
                  <a:srgbClr val="6B768A"/>
                </a:solidFill>
                <a:latin typeface="Calibri"/>
              </a:defRPr>
            </a:pPr>
            <a:r>
              <a:t>     So the component mounts and then redirects — ProtectedRoute needs an explicit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550" b="0">
                <a:solidFill>
                  <a:srgbClr val="6B768A"/>
                </a:solidFill>
                <a:latin typeface="Calibri"/>
              </a:defRPr>
            </a:pPr>
            <a:r>
              <a:t>     checking state, or the UI flashes a login redirect before Firebase reports back.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400"/>
              </a:spcAft>
              <a:defRPr sz="1900" b="0">
                <a:solidFill>
                  <a:srgbClr val="3F4B5F"/>
                </a:solidFill>
                <a:latin typeface="Calibri"/>
              </a:defRPr>
            </a:pPr>
            <a:r>
              <a:t>useRouter() → useNavigate()   ·   router.push(x) → navigate(x)   ·   &lt;router-link&gt; → &lt;Link&gt;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B768A"/>
                </a:solidFill>
                <a:latin typeface="Calibri"/>
              </a:defRPr>
            </a:pPr>
            <a:r>
              <a:t>COMPOSITION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F1E3A"/>
                </a:solidFill>
                <a:latin typeface="Calibri"/>
              </a:defRPr>
            </a:pPr>
            <a:r>
              <a:t>8. Slots → props that hold JSX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27048"/>
            <a:ext cx="1005840" cy="44450"/>
          </a:xfrm>
          <a:prstGeom prst="rect">
            <a:avLst/>
          </a:prstGeom>
          <a:solidFill>
            <a:srgbClr val="089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513572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2F9E69"/>
                </a:solidFill>
                <a:latin typeface="Calibri"/>
              </a:defRPr>
            </a:pPr>
            <a:r>
              <a:t>VUE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304288"/>
            <a:ext cx="5135727" cy="2743200"/>
          </a:xfrm>
          <a:prstGeom prst="rect">
            <a:avLst/>
          </a:prstGeom>
          <a:solidFill>
            <a:srgbClr val="F4F6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514600"/>
            <a:ext cx="4678527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0F1E3A"/>
                </a:solidFill>
                <a:latin typeface="Menlo"/>
              </a:defRPr>
            </a:pPr>
            <a:r>
              <a:t>&lt;template #icon&gt;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0F1E3A"/>
                </a:solidFill>
                <a:latin typeface="Menlo"/>
              </a:defRPr>
            </a:pPr>
            <a:r>
              <a:t>  &lt;DocumentationIcon /&gt;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0F1E3A"/>
                </a:solidFill>
                <a:latin typeface="Menlo"/>
              </a:defRPr>
            </a:pPr>
            <a:r>
              <a:t>&lt;/template&gt;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0F1E3A"/>
                </a:solidFill>
                <a:latin typeface="Menlo"/>
              </a:defRPr>
            </a:pPr>
            <a:r>
              <a:t>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0F1E3A"/>
                </a:solidFill>
                <a:latin typeface="Menlo"/>
              </a:defRPr>
            </a:pPr>
            <a:r>
              <a:t>&lt;!-- default slot --&gt;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78727" y="1920240"/>
            <a:ext cx="513572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89FC4"/>
                </a:solidFill>
                <a:latin typeface="Calibri"/>
              </a:defRPr>
            </a:pPr>
            <a:r>
              <a:t>REACT</a:t>
            </a:r>
          </a:p>
        </p:txBody>
      </p:sp>
      <p:sp>
        <p:nvSpPr>
          <p:cNvPr id="9" name="Rectangle 8"/>
          <p:cNvSpPr/>
          <p:nvPr/>
        </p:nvSpPr>
        <p:spPr>
          <a:xfrm>
            <a:off x="6278727" y="2304288"/>
            <a:ext cx="5135727" cy="2743200"/>
          </a:xfrm>
          <a:prstGeom prst="rect">
            <a:avLst/>
          </a:prstGeom>
          <a:solidFill>
            <a:srgbClr val="F4F6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07327" y="2514600"/>
            <a:ext cx="4678527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0F1E3A"/>
                </a:solidFill>
                <a:latin typeface="Menlo"/>
              </a:defRPr>
            </a:pPr>
            <a:r>
              <a:t>&lt;WelcomeItem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0F1E3A"/>
                </a:solidFill>
                <a:latin typeface="Menlo"/>
              </a:defRPr>
            </a:pPr>
            <a:r>
              <a:t>  icon={&lt;DocumentationIcon/&gt;}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0F1E3A"/>
                </a:solidFill>
                <a:latin typeface="Menlo"/>
              </a:defRPr>
            </a:pPr>
            <a:r>
              <a:t>  heading="Dataset Prep"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0F1E3A"/>
                </a:solidFill>
                <a:latin typeface="Menlo"/>
              </a:defRPr>
            </a:pPr>
            <a:r>
              <a:t>/&gt;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0F1E3A"/>
                </a:solidFill>
                <a:latin typeface="Menlo"/>
              </a:defRPr>
            </a:pPr>
            <a:r>
              <a:t>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0F1E3A"/>
                </a:solidFill>
                <a:latin typeface="Menlo"/>
              </a:defRPr>
            </a:pPr>
            <a:r>
              <a:t>// children prop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367528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F4B5F"/>
                </a:solidFill>
                <a:latin typeface="Calibri"/>
              </a:defRPr>
            </a:pPr>
            <a:r>
              <a:t>In React a "slot" is just a prop whose value is an element. Vue's default slot maps to the special children prop — there's no separate mechanism.  See components/WelcomeItem.tsx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B768A"/>
                </a:solidFill>
                <a:latin typeface="Calibri"/>
              </a:defRPr>
            </a:pPr>
            <a:r>
              <a:t>STRENGTHS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F1E3A"/>
                </a:solidFill>
                <a:latin typeface="Calibri"/>
              </a:defRPr>
            </a:pPr>
            <a:r>
              <a:t>What each one is genuinely good at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27048"/>
            <a:ext cx="1005840" cy="44450"/>
          </a:xfrm>
          <a:prstGeom prst="rect">
            <a:avLst/>
          </a:prstGeom>
          <a:solidFill>
            <a:srgbClr val="089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920240"/>
            <a:ext cx="5135727" cy="3657600"/>
          </a:xfrm>
          <a:prstGeom prst="rect">
            <a:avLst/>
          </a:prstGeom>
          <a:solidFill>
            <a:srgbClr val="F4F6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920240"/>
            <a:ext cx="5135727" cy="50800"/>
          </a:xfrm>
          <a:prstGeom prst="rect">
            <a:avLst/>
          </a:prstGeom>
          <a:solidFill>
            <a:srgbClr val="2F9E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94560"/>
            <a:ext cx="458708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F9E69"/>
                </a:solidFill>
                <a:latin typeface="Calibri"/>
              </a:defRPr>
            </a:pPr>
            <a:r>
              <a:t>Vue excels 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697480"/>
            <a:ext cx="4587087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500" b="0">
                <a:solidFill>
                  <a:srgbClr val="3F4B5F"/>
                </a:solidFill>
                <a:latin typeface="Calibri"/>
              </a:defRPr>
            </a:pPr>
            <a:r>
              <a:t>•  Gentler learning curve — templates are HTML you already know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500" b="0">
                <a:solidFill>
                  <a:srgbClr val="3F4B5F"/>
                </a:solidFill>
                <a:latin typeface="Calibri"/>
              </a:defRPr>
            </a:pPr>
            <a:r>
              <a:t>•  Single-file components colocate markup, logic, and styles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500" b="0">
                <a:solidFill>
                  <a:srgbClr val="3F4B5F"/>
                </a:solidFill>
                <a:latin typeface="Calibri"/>
              </a:defRPr>
            </a:pPr>
            <a:r>
              <a:t>•  Fine-grained reactivity: less manual performance tuning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500" b="0">
                <a:solidFill>
                  <a:srgbClr val="3F4B5F"/>
                </a:solidFill>
                <a:latin typeface="Calibri"/>
              </a:defRPr>
            </a:pPr>
            <a:r>
              <a:t>•  Progressive adoption — drop it into one page of a legacy app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500" b="0">
                <a:solidFill>
                  <a:srgbClr val="3F4B5F"/>
                </a:solidFill>
                <a:latin typeface="Calibri"/>
              </a:defRPr>
            </a:pPr>
            <a:r>
              <a:t>•  First-party Router, Pinia, and Vite: one blessed way to do things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78727" y="1920240"/>
            <a:ext cx="5135727" cy="3657600"/>
          </a:xfrm>
          <a:prstGeom prst="rect">
            <a:avLst/>
          </a:prstGeom>
          <a:solidFill>
            <a:srgbClr val="F4F6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78727" y="1920240"/>
            <a:ext cx="5135727" cy="50800"/>
          </a:xfrm>
          <a:prstGeom prst="rect">
            <a:avLst/>
          </a:prstGeom>
          <a:solidFill>
            <a:srgbClr val="089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3047" y="2194560"/>
            <a:ext cx="458708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89FC4"/>
                </a:solidFill>
                <a:latin typeface="Calibri"/>
              </a:defRPr>
            </a:pPr>
            <a:r>
              <a:t>React excels 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047" y="2697480"/>
            <a:ext cx="4587087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500" b="0">
                <a:solidFill>
                  <a:srgbClr val="3F4B5F"/>
                </a:solidFill>
                <a:latin typeface="Calibri"/>
              </a:defRPr>
            </a:pPr>
            <a:r>
              <a:t>•  Largest ecosystem and job market by a wide margin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500" b="0">
                <a:solidFill>
                  <a:srgbClr val="3F4B5F"/>
                </a:solidFill>
                <a:latin typeface="Calibri"/>
              </a:defRPr>
            </a:pPr>
            <a:r>
              <a:t>•  React Native — the same mental model ships to iOS and Android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500" b="0">
                <a:solidFill>
                  <a:srgbClr val="3F4B5F"/>
                </a:solidFill>
                <a:latin typeface="Calibri"/>
              </a:defRPr>
            </a:pPr>
            <a:r>
              <a:t>•  Deepest meta-framework story (Next.js, Server Components)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500" b="0">
                <a:solidFill>
                  <a:srgbClr val="3F4B5F"/>
                </a:solidFill>
                <a:latin typeface="Calibri"/>
              </a:defRPr>
            </a:pPr>
            <a:r>
              <a:t>•  "It's just JavaScript" — no template DSL to learn or fight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500" b="0">
                <a:solidFill>
                  <a:srgbClr val="3F4B5F"/>
                </a:solidFill>
                <a:latin typeface="Calibri"/>
              </a:defRPr>
            </a:pPr>
            <a:r>
              <a:t>•  Scales to very large teams, especially with TypeScript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B768A"/>
                </a:solidFill>
                <a:latin typeface="Calibri"/>
              </a:defRPr>
            </a:pPr>
            <a:r>
              <a:t>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F1E3A"/>
                </a:solidFill>
                <a:latin typeface="Calibri"/>
              </a:defRPr>
            </a:pPr>
            <a:r>
              <a:t>Where each one tends to get 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27048"/>
            <a:ext cx="1005840" cy="44450"/>
          </a:xfrm>
          <a:prstGeom prst="rect">
            <a:avLst/>
          </a:prstGeom>
          <a:solidFill>
            <a:srgbClr val="089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920240"/>
            <a:ext cx="5135727" cy="3657600"/>
          </a:xfrm>
          <a:prstGeom prst="rect">
            <a:avLst/>
          </a:prstGeom>
          <a:solidFill>
            <a:srgbClr val="F4F6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920240"/>
            <a:ext cx="5135727" cy="50800"/>
          </a:xfrm>
          <a:prstGeom prst="rect">
            <a:avLst/>
          </a:prstGeom>
          <a:solidFill>
            <a:srgbClr val="2F9E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94560"/>
            <a:ext cx="458708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F9E69"/>
                </a:solidFill>
                <a:latin typeface="Calibri"/>
              </a:defRPr>
            </a:pPr>
            <a:r>
              <a:t>Reach for Vue when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697480"/>
            <a:ext cx="4587087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500" b="0">
                <a:solidFill>
                  <a:srgbClr val="3F4B5F"/>
                </a:solidFill>
                <a:latin typeface="Calibri"/>
              </a:defRPr>
            </a:pPr>
            <a:r>
              <a:t>•  Small team or solo developer, speed to first feature matters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500" b="0">
                <a:solidFill>
                  <a:srgbClr val="3F4B5F"/>
                </a:solidFill>
                <a:latin typeface="Calibri"/>
              </a:defRPr>
            </a:pPr>
            <a:r>
              <a:t>•  Adding interactivity to an existing server-rendered app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500" b="0">
                <a:solidFill>
                  <a:srgbClr val="3F4B5F"/>
                </a:solidFill>
                <a:latin typeface="Calibri"/>
              </a:defRPr>
            </a:pPr>
            <a:r>
              <a:t>•  Admin panels, dashboards, internal tools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500" b="0">
                <a:solidFill>
                  <a:srgbClr val="3F4B5F"/>
                </a:solidFill>
                <a:latin typeface="Calibri"/>
              </a:defRPr>
            </a:pPr>
            <a:r>
              <a:t>•  You want batteries included and fewer architectural decisions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78727" y="1920240"/>
            <a:ext cx="5135727" cy="3657600"/>
          </a:xfrm>
          <a:prstGeom prst="rect">
            <a:avLst/>
          </a:prstGeom>
          <a:solidFill>
            <a:srgbClr val="F4F6F9"/>
          </a:solidFill>
          <a:ln w="9525">
            <a:solidFill>
              <a:srgbClr val="DD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78727" y="1920240"/>
            <a:ext cx="5135727" cy="50800"/>
          </a:xfrm>
          <a:prstGeom prst="rect">
            <a:avLst/>
          </a:prstGeom>
          <a:solidFill>
            <a:srgbClr val="089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3047" y="2194560"/>
            <a:ext cx="458708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89FC4"/>
                </a:solidFill>
                <a:latin typeface="Calibri"/>
              </a:defRPr>
            </a:pPr>
            <a:r>
              <a:t>Reach for React when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047" y="2697480"/>
            <a:ext cx="4587087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500" b="0">
                <a:solidFill>
                  <a:srgbClr val="3F4B5F"/>
                </a:solidFill>
                <a:latin typeface="Calibri"/>
              </a:defRPr>
            </a:pPr>
            <a:r>
              <a:t>•  You need web AND native from one skill set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500" b="0">
                <a:solidFill>
                  <a:srgbClr val="3F4B5F"/>
                </a:solidFill>
                <a:latin typeface="Calibri"/>
              </a:defRPr>
            </a:pPr>
            <a:r>
              <a:t>•  Hiring at scale, or inheriting a large existing codebase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500" b="0">
                <a:solidFill>
                  <a:srgbClr val="3F4B5F"/>
                </a:solidFill>
                <a:latin typeface="Calibri"/>
              </a:defRPr>
            </a:pPr>
            <a:r>
              <a:t>•  You need a niche library — odds are it's React-first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500" b="0">
                <a:solidFill>
                  <a:srgbClr val="3F4B5F"/>
                </a:solidFill>
                <a:latin typeface="Calibri"/>
              </a:defRPr>
            </a:pPr>
            <a:r>
              <a:t>•  Complex client state, heavy third-party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5216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68A"/>
                </a:solidFill>
                <a:latin typeface="Calibri"/>
              </a:defRPr>
            </a:pPr>
            <a:r>
              <a:t>Honest summary: for an app this size either choice is fine. The differences show up in team size, hiring, and ecosystem reach — not capability.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B768A"/>
                </a:solidFill>
                <a:latin typeface="Calibri"/>
              </a:defRPr>
            </a:pPr>
            <a:r>
              <a:t>TOOLING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F1E3A"/>
                </a:solidFill>
                <a:latin typeface="Calibri"/>
              </a:defRPr>
            </a:pPr>
            <a:r>
              <a:t>Ecosystem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27048"/>
            <a:ext cx="1005840" cy="44450"/>
          </a:xfrm>
          <a:prstGeom prst="rect">
            <a:avLst/>
          </a:prstGeom>
          <a:solidFill>
            <a:srgbClr val="089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920240"/>
          <a:ext cx="10637214" cy="3035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7443"/>
                <a:gridCol w="3868078"/>
                <a:gridCol w="4641693"/>
              </a:tblGrid>
              <a:tr h="433686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 anchor="ctr" marL="128016">
                    <a:solidFill>
                      <a:srgbClr val="0F1E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Vue</a:t>
                      </a:r>
                    </a:p>
                  </a:txBody>
                  <a:tcPr anchor="ctr" marL="128016">
                    <a:solidFill>
                      <a:srgbClr val="0F1E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React</a:t>
                      </a:r>
                    </a:p>
                  </a:txBody>
                  <a:tcPr anchor="ctr" marL="128016">
                    <a:solidFill>
                      <a:srgbClr val="0F1E3A"/>
                    </a:solidFill>
                  </a:tcPr>
                </a:tc>
              </a:tr>
              <a:tr h="433686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F4B5F"/>
                          </a:solidFill>
                          <a:latin typeface="Calibri"/>
                        </a:defRPr>
                      </a:pPr>
                      <a:r>
                        <a:t>Created by</a:t>
                      </a:r>
                    </a:p>
                  </a:txBody>
                  <a:tcPr anchor="ctr" marL="12801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F4B5F"/>
                          </a:solidFill>
                          <a:latin typeface="Calibri"/>
                        </a:defRPr>
                      </a:pPr>
                      <a:r>
                        <a:t>Evan You (also created Vite)</a:t>
                      </a:r>
                    </a:p>
                  </a:txBody>
                  <a:tcPr anchor="ctr" marL="12801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F4B5F"/>
                          </a:solidFill>
                          <a:latin typeface="Calibri"/>
                        </a:defRPr>
                      </a:pPr>
                      <a:r>
                        <a:t>Meta / Facebook</a:t>
                      </a:r>
                    </a:p>
                  </a:txBody>
                  <a:tcPr anchor="ctr" marL="128016" marT="45720" marB="45720">
                    <a:solidFill>
                      <a:srgbClr val="FFFFFF"/>
                    </a:solidFill>
                  </a:tcPr>
                </a:tc>
              </a:tr>
              <a:tr h="433686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F4B5F"/>
                          </a:solidFill>
                          <a:latin typeface="Calibri"/>
                        </a:defRPr>
                      </a:pPr>
                      <a:r>
                        <a:t>Meta-framework</a:t>
                      </a:r>
                    </a:p>
                  </a:txBody>
                  <a:tcPr anchor="ctr" marL="128016" marT="45720" marB="4572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F4B5F"/>
                          </a:solidFill>
                          <a:latin typeface="Calibri"/>
                        </a:defRPr>
                      </a:pPr>
                      <a:r>
                        <a:t>Nuxt</a:t>
                      </a:r>
                    </a:p>
                  </a:txBody>
                  <a:tcPr anchor="ctr" marL="128016" marT="45720" marB="4572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F4B5F"/>
                          </a:solidFill>
                          <a:latin typeface="Calibri"/>
                        </a:defRPr>
                      </a:pPr>
                      <a:r>
                        <a:t>Next.js, Remix</a:t>
                      </a:r>
                    </a:p>
                  </a:txBody>
                  <a:tcPr anchor="ctr" marL="128016" marT="45720" marB="45720">
                    <a:solidFill>
                      <a:srgbClr val="F4F6F9"/>
                    </a:solidFill>
                  </a:tcPr>
                </a:tc>
              </a:tr>
              <a:tr h="433686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F4B5F"/>
                          </a:solidFill>
                          <a:latin typeface="Calibri"/>
                        </a:defRPr>
                      </a:pPr>
                      <a:r>
                        <a:t>State</a:t>
                      </a:r>
                    </a:p>
                  </a:txBody>
                  <a:tcPr anchor="ctr" marL="12801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F4B5F"/>
                          </a:solidFill>
                          <a:latin typeface="Calibri"/>
                        </a:defRPr>
                      </a:pPr>
                      <a:r>
                        <a:t>Pinia (official)</a:t>
                      </a:r>
                    </a:p>
                  </a:txBody>
                  <a:tcPr anchor="ctr" marL="12801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F4B5F"/>
                          </a:solidFill>
                          <a:latin typeface="Calibri"/>
                        </a:defRPr>
                      </a:pPr>
                      <a:r>
                        <a:t>Redux, Zustand, Jotai (pick one)</a:t>
                      </a:r>
                    </a:p>
                  </a:txBody>
                  <a:tcPr anchor="ctr" marL="128016" marT="45720" marB="45720">
                    <a:solidFill>
                      <a:srgbClr val="FFFFFF"/>
                    </a:solidFill>
                  </a:tcPr>
                </a:tc>
              </a:tr>
              <a:tr h="433686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F4B5F"/>
                          </a:solidFill>
                          <a:latin typeface="Calibri"/>
                        </a:defRPr>
                      </a:pPr>
                      <a:r>
                        <a:t>Router</a:t>
                      </a:r>
                    </a:p>
                  </a:txBody>
                  <a:tcPr anchor="ctr" marL="128016" marT="45720" marB="4572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F4B5F"/>
                          </a:solidFill>
                          <a:latin typeface="Calibri"/>
                        </a:defRPr>
                      </a:pPr>
                      <a:r>
                        <a:t>Vue Router (official)</a:t>
                      </a:r>
                    </a:p>
                  </a:txBody>
                  <a:tcPr anchor="ctr" marL="128016" marT="45720" marB="4572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F4B5F"/>
                          </a:solidFill>
                          <a:latin typeface="Calibri"/>
                        </a:defRPr>
                      </a:pPr>
                      <a:r>
                        <a:t>React Router, TanStack (pick one)</a:t>
                      </a:r>
                    </a:p>
                  </a:txBody>
                  <a:tcPr anchor="ctr" marL="128016" marT="45720" marB="45720">
                    <a:solidFill>
                      <a:srgbClr val="F4F6F9"/>
                    </a:solidFill>
                  </a:tcPr>
                </a:tc>
              </a:tr>
              <a:tr h="433686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F4B5F"/>
                          </a:solidFill>
                          <a:latin typeface="Calibri"/>
                        </a:defRPr>
                      </a:pPr>
                      <a:r>
                        <a:t>Mobile</a:t>
                      </a:r>
                    </a:p>
                  </a:txBody>
                  <a:tcPr anchor="ctr" marL="12801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F4B5F"/>
                          </a:solidFill>
                          <a:latin typeface="Calibri"/>
                        </a:defRPr>
                      </a:pPr>
                      <a:r>
                        <a:t>NativeScript, Ionic, Quasar</a:t>
                      </a:r>
                    </a:p>
                  </a:txBody>
                  <a:tcPr anchor="ctr" marL="128016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F4B5F"/>
                          </a:solidFill>
                          <a:latin typeface="Calibri"/>
                        </a:defRPr>
                      </a:pPr>
                      <a:r>
                        <a:t>React Native</a:t>
                      </a:r>
                    </a:p>
                  </a:txBody>
                  <a:tcPr anchor="ctr" marL="128016" marT="45720" marB="45720">
                    <a:solidFill>
                      <a:srgbClr val="FFFFFF"/>
                    </a:solidFill>
                  </a:tcPr>
                </a:tc>
              </a:tr>
              <a:tr h="433692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F4B5F"/>
                          </a:solidFill>
                          <a:latin typeface="Calibri"/>
                        </a:defRPr>
                      </a:pPr>
                      <a:r>
                        <a:t>Typing story</a:t>
                      </a:r>
                    </a:p>
                  </a:txBody>
                  <a:tcPr anchor="ctr" marL="128016" marT="45720" marB="4572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F4B5F"/>
                          </a:solidFill>
                          <a:latin typeface="Calibri"/>
                        </a:defRPr>
                      </a:pPr>
                      <a:r>
                        <a:t>Good; TS support since Vue 3</a:t>
                      </a:r>
                    </a:p>
                  </a:txBody>
                  <a:tcPr anchor="ctr" marL="128016" marT="45720" marB="45720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F4B5F"/>
                          </a:solidFill>
                          <a:latin typeface="Calibri"/>
                        </a:defRPr>
                      </a:pPr>
                      <a:r>
                        <a:t>Excellent; TSX is idiomatic</a:t>
                      </a:r>
                    </a:p>
                  </a:txBody>
                  <a:tcPr anchor="ctr" marL="128016" marT="45720" marB="45720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594360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68A"/>
                </a:solidFill>
                <a:latin typeface="Calibri"/>
              </a:defRPr>
            </a:pPr>
            <a:r>
              <a:t>Pattern: Vue ships one official answer per problem; React gives you a marketplace and expects you to choose.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B768A"/>
                </a:solidFill>
                <a:latin typeface="Calibri"/>
              </a:defRPr>
            </a:pPr>
            <a:r>
              <a:t>OPEN SOURCE TO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F1E3A"/>
                </a:solidFill>
                <a:latin typeface="Calibri"/>
              </a:defRPr>
            </a:pPr>
            <a:r>
              <a:t>Read real code: React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27048"/>
            <a:ext cx="1005840" cy="44450"/>
          </a:xfrm>
          <a:prstGeom prst="rect">
            <a:avLst/>
          </a:prstGeom>
          <a:solidFill>
            <a:srgbClr val="089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10637215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400"/>
              </a:spcAft>
              <a:defRPr sz="1900" b="0">
                <a:solidFill>
                  <a:srgbClr val="3F4B5F"/>
                </a:solidFill>
                <a:latin typeface="Calibri"/>
              </a:defRPr>
            </a:pPr>
            <a:r>
              <a:t>Excalidraw — github.com/excalidraw/excalidraw    ← start here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550" b="0">
                <a:solidFill>
                  <a:srgbClr val="6B768A"/>
                </a:solidFill>
                <a:latin typeface="Calibri"/>
              </a:defRPr>
            </a:pPr>
            <a:r>
              <a:t>     Virtual whiteboard, TypeScript + React. Real canvas app, idiomatic hooks, very readable.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400"/>
              </a:spcAft>
              <a:defRPr sz="1900" b="0">
                <a:solidFill>
                  <a:srgbClr val="3F4B5F"/>
                </a:solidFill>
                <a:latin typeface="Calibri"/>
              </a:defRPr>
            </a:pPr>
            <a:r>
              <a:t>Cal.com — github.com/calcom/cal.com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550" b="0">
                <a:solidFill>
                  <a:srgbClr val="6B768A"/>
                </a:solidFill>
                <a:latin typeface="Calibri"/>
              </a:defRPr>
            </a:pPr>
            <a:r>
              <a:t>     Full-stack Next.js scheduling product. Shows React at production scale with a real backend.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400"/>
              </a:spcAft>
              <a:defRPr sz="1900" b="0">
                <a:solidFill>
                  <a:srgbClr val="3F4B5F"/>
                </a:solidFill>
                <a:latin typeface="Calibri"/>
              </a:defRPr>
            </a:pPr>
            <a:r>
              <a:t>Bluesky — github.com/bluesky-social/social-app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550" b="0">
                <a:solidFill>
                  <a:srgbClr val="6B768A"/>
                </a:solidFill>
                <a:latin typeface="Calibri"/>
              </a:defRPr>
            </a:pPr>
            <a:r>
              <a:t>     One codebase shipping web + iOS + Android via React Native. The cross-platform pitch, proven.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400"/>
              </a:spcAft>
              <a:defRPr sz="1900" b="0">
                <a:solidFill>
                  <a:srgbClr val="3F4B5F"/>
                </a:solidFill>
                <a:latin typeface="Calibri"/>
              </a:defRPr>
            </a:pPr>
            <a:r>
              <a:t>React itself — github.com/facebook/react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550" b="0">
                <a:solidFill>
                  <a:srgbClr val="6B768A"/>
                </a:solidFill>
                <a:latin typeface="Calibri"/>
              </a:defRPr>
            </a:pPr>
            <a:r>
              <a:t>     Read this last. It's the reconciler, not an app — different skill.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B768A"/>
                </a:solidFill>
                <a:latin typeface="Calibri"/>
              </a:defRPr>
            </a:pPr>
            <a:r>
              <a:t>OPEN SOURCE TO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F1E3A"/>
                </a:solidFill>
                <a:latin typeface="Calibri"/>
              </a:defRPr>
            </a:pPr>
            <a:r>
              <a:t>Read real code: Vue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27048"/>
            <a:ext cx="1005840" cy="44450"/>
          </a:xfrm>
          <a:prstGeom prst="rect">
            <a:avLst/>
          </a:prstGeom>
          <a:solidFill>
            <a:srgbClr val="089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10637215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400"/>
              </a:spcAft>
              <a:defRPr sz="1900" b="0">
                <a:solidFill>
                  <a:srgbClr val="3F4B5F"/>
                </a:solidFill>
                <a:latin typeface="Calibri"/>
              </a:defRPr>
            </a:pPr>
            <a:r>
              <a:t>Directus — github.com/directus/directus    ← start here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550" b="0">
                <a:solidFill>
                  <a:srgbClr val="6B768A"/>
                </a:solidFill>
                <a:latin typeface="Calibri"/>
              </a:defRPr>
            </a:pPr>
            <a:r>
              <a:t>     Headless CMS with a large, well-organized Vue 3 admin app. Clean Composition API throughout.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400"/>
              </a:spcAft>
              <a:defRPr sz="1900" b="0">
                <a:solidFill>
                  <a:srgbClr val="3F4B5F"/>
                </a:solidFill>
                <a:latin typeface="Calibri"/>
              </a:defRPr>
            </a:pPr>
            <a:r>
              <a:t>GitLab — gitlab-org/gitlab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550" b="0">
                <a:solidFill>
                  <a:srgbClr val="6B768A"/>
                </a:solidFill>
                <a:latin typeface="Calibri"/>
              </a:defRPr>
            </a:pPr>
            <a:r>
              <a:t>     The biggest production Vue codebase in the open. Rails backend, Vue frontend. Huge — browse, don't read.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400"/>
              </a:spcAft>
              <a:defRPr sz="1900" b="0">
                <a:solidFill>
                  <a:srgbClr val="3F4B5F"/>
                </a:solidFill>
                <a:latin typeface="Calibri"/>
              </a:defRPr>
            </a:pPr>
            <a:r>
              <a:t>Elk — github.com/elk-zone/elk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550" b="0">
                <a:solidFill>
                  <a:srgbClr val="6B768A"/>
                </a:solidFill>
                <a:latin typeface="Calibri"/>
              </a:defRPr>
            </a:pPr>
            <a:r>
              <a:t>     Mastodon client on Nuxt 3. Modern, idiomatic, small enough to read end to end.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400"/>
              </a:spcAft>
              <a:defRPr sz="1900" b="0">
                <a:solidFill>
                  <a:srgbClr val="3F4B5F"/>
                </a:solidFill>
                <a:latin typeface="Calibri"/>
              </a:defRPr>
            </a:pPr>
            <a:r>
              <a:t>Vue core — github.com/vuejs/core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550" b="0">
                <a:solidFill>
                  <a:srgbClr val="6B768A"/>
                </a:solidFill>
                <a:latin typeface="Calibri"/>
              </a:defRPr>
            </a:pPr>
            <a:r>
              <a:t>     Reactivity implementation lives in packages/reactivity — worth reading after slide 4.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4864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B768A"/>
                </a:solidFill>
                <a:latin typeface="Calibri"/>
              </a:defRPr>
            </a:pPr>
            <a:r>
              <a:t>WRAP 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F1E3A"/>
                </a:solidFill>
                <a:latin typeface="Calibri"/>
              </a:defRPr>
            </a:pPr>
            <a:r>
              <a:t>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27048"/>
            <a:ext cx="1005840" cy="44450"/>
          </a:xfrm>
          <a:prstGeom prst="rect">
            <a:avLst/>
          </a:prstGeom>
          <a:solidFill>
            <a:srgbClr val="089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10637215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400"/>
              </a:spcAft>
              <a:defRPr sz="1900" b="0">
                <a:solidFill>
                  <a:srgbClr val="3F4B5F"/>
                </a:solidFill>
                <a:latin typeface="Calibri"/>
              </a:defRPr>
            </a:pPr>
            <a:r>
              <a:t>One difference drives everything: Vue tracks dependencies, React re-runs and diffs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400"/>
              </a:spcAft>
              <a:defRPr sz="1900" b="0">
                <a:solidFill>
                  <a:srgbClr val="3F4B5F"/>
                </a:solidFill>
                <a:latin typeface="Calibri"/>
              </a:defRPr>
            </a:pPr>
            <a:r>
              <a:t>Vue optimizes for getting it working; React optimizes for making it explicit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400"/>
              </a:spcAft>
              <a:defRPr sz="1900" b="0">
                <a:solidFill>
                  <a:srgbClr val="3F4B5F"/>
                </a:solidFill>
                <a:latin typeface="Calibri"/>
              </a:defRPr>
            </a:pPr>
            <a:r>
              <a:t>React's cleanup contract caught a real listener leak that Vue's API let us ignore</a:t>
            </a:r>
          </a:p>
          <a:p>
            <a:pPr algn="l">
              <a:lnSpc>
                <a:spcPct val="125000"/>
              </a:lnSpc>
              <a:spcBef>
                <a:spcPts val="800"/>
              </a:spcBef>
              <a:spcAft>
                <a:spcPts val="400"/>
              </a:spcAft>
              <a:defRPr sz="1900" b="0">
                <a:solidFill>
                  <a:srgbClr val="3F4B5F"/>
                </a:solidFill>
                <a:latin typeface="Calibri"/>
              </a:defRPr>
            </a:pPr>
            <a:r>
              <a:t>Neither framework was the bottleneck — the missing inference endpoint is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550" b="0">
                <a:solidFill>
                  <a:srgbClr val="6B768A"/>
                </a:solidFill>
                <a:latin typeface="Calibri"/>
              </a:defRPr>
            </a:pPr>
            <a:r>
              <a:t>     Both dashboards still fake it: submitImage() waits 5s and shows canned text.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defRPr sz="1550" b="0">
                <a:solidFill>
                  <a:srgbClr val="6B768A"/>
                </a:solidFill>
                <a:latin typeface="Calibri"/>
              </a:defRPr>
            </a:pPr>
            <a:r>
              <a:t>     Wiring the real endpoint means doing it twice — the best remaining comparison.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89788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68A"/>
                </a:solidFill>
                <a:latin typeface="Calibri"/>
              </a:defRPr>
            </a:pPr>
            <a:r>
              <a:t>Deck built from openpose-react/COMPARISON.md and RUNDOWN.md.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